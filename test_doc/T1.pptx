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webExtensions/webExtension1.xml" ContentType="application/vnd.wps-officedocument.webExtension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60" r:id="rId4"/>
    <p:sldId id="259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70" r:id="rId13"/>
    <p:sldId id="269" r:id="rId14"/>
    <p:sldId id="272" r:id="rId15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92" autoAdjust="0"/>
    <p:restoredTop sz="89367" autoAdjust="0"/>
  </p:normalViewPr>
  <p:slideViewPr>
    <p:cSldViewPr snapToGrid="0">
      <p:cViewPr varScale="1">
        <p:scale>
          <a:sx n="77" d="100"/>
          <a:sy n="77" d="100"/>
        </p:scale>
        <p:origin x="60" y="2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CE624-3660-4035-AB45-CE49DDC2C65A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5F825-9C29-43CC-BB96-80A60E9689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0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1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2pPr>
            <a:lvl3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3pPr>
            <a:lvl4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4pPr>
            <a:lvl5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r>
              <a:rPr lang="zh-CN" altLang="en-US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文本框 10"/>
          <p:cNvSpPr txBox="1"/>
          <p:nvPr userDrawn="1">
            <p:custDataLst>
              <p:tags r:id="rId6"/>
            </p:custDataLst>
          </p:nvPr>
        </p:nvSpPr>
        <p:spPr>
          <a:xfrm>
            <a:off x="1130334" y="5498053"/>
            <a:ext cx="1368028" cy="238423"/>
          </a:xfrm>
          <a:custGeom>
            <a:avLst/>
            <a:gdLst/>
            <a:ahLst/>
            <a:cxnLst/>
            <a:rect l="l" t="t" r="r" b="b"/>
            <a:pathLst>
              <a:path w="1368028" h="238423">
                <a:moveTo>
                  <a:pt x="297954" y="102691"/>
                </a:moveTo>
                <a:cubicBezTo>
                  <a:pt x="285353" y="102691"/>
                  <a:pt x="275555" y="107007"/>
                  <a:pt x="268560" y="115639"/>
                </a:cubicBezTo>
                <a:cubicBezTo>
                  <a:pt x="261565" y="124271"/>
                  <a:pt x="258068" y="136475"/>
                  <a:pt x="258068" y="152251"/>
                </a:cubicBezTo>
                <a:cubicBezTo>
                  <a:pt x="258068" y="185093"/>
                  <a:pt x="271463" y="201513"/>
                  <a:pt x="298252" y="201513"/>
                </a:cubicBezTo>
                <a:cubicBezTo>
                  <a:pt x="323949" y="201513"/>
                  <a:pt x="336798" y="184646"/>
                  <a:pt x="336798" y="150912"/>
                </a:cubicBezTo>
                <a:cubicBezTo>
                  <a:pt x="336798" y="118765"/>
                  <a:pt x="323850" y="102691"/>
                  <a:pt x="297954" y="102691"/>
                </a:cubicBezTo>
                <a:close/>
                <a:moveTo>
                  <a:pt x="814536" y="98673"/>
                </a:moveTo>
                <a:cubicBezTo>
                  <a:pt x="806301" y="98673"/>
                  <a:pt x="799009" y="102046"/>
                  <a:pt x="792659" y="108793"/>
                </a:cubicBezTo>
                <a:cubicBezTo>
                  <a:pt x="786309" y="115540"/>
                  <a:pt x="782340" y="124470"/>
                  <a:pt x="780752" y="135582"/>
                </a:cubicBezTo>
                <a:lnTo>
                  <a:pt x="844451" y="135582"/>
                </a:lnTo>
                <a:cubicBezTo>
                  <a:pt x="844451" y="110976"/>
                  <a:pt x="834479" y="98673"/>
                  <a:pt x="814536" y="98673"/>
                </a:cubicBezTo>
                <a:close/>
                <a:moveTo>
                  <a:pt x="1314748" y="65782"/>
                </a:moveTo>
                <a:cubicBezTo>
                  <a:pt x="1329829" y="65782"/>
                  <a:pt x="1344365" y="68014"/>
                  <a:pt x="1358354" y="72479"/>
                </a:cubicBezTo>
                <a:lnTo>
                  <a:pt x="1358354" y="110282"/>
                </a:lnTo>
                <a:cubicBezTo>
                  <a:pt x="1345555" y="102741"/>
                  <a:pt x="1331466" y="98971"/>
                  <a:pt x="1316087" y="98971"/>
                </a:cubicBezTo>
                <a:cubicBezTo>
                  <a:pt x="1308447" y="98971"/>
                  <a:pt x="1302296" y="100335"/>
                  <a:pt x="1297633" y="103063"/>
                </a:cubicBezTo>
                <a:cubicBezTo>
                  <a:pt x="1292969" y="105792"/>
                  <a:pt x="1290638" y="109389"/>
                  <a:pt x="1290638" y="113853"/>
                </a:cubicBezTo>
                <a:cubicBezTo>
                  <a:pt x="1290638" y="121394"/>
                  <a:pt x="1297583" y="127496"/>
                  <a:pt x="1311474" y="132159"/>
                </a:cubicBezTo>
                <a:cubicBezTo>
                  <a:pt x="1326356" y="137120"/>
                  <a:pt x="1337543" y="141635"/>
                  <a:pt x="1345034" y="145703"/>
                </a:cubicBezTo>
                <a:cubicBezTo>
                  <a:pt x="1352525" y="149771"/>
                  <a:pt x="1358230" y="155128"/>
                  <a:pt x="1362150" y="161776"/>
                </a:cubicBezTo>
                <a:cubicBezTo>
                  <a:pt x="1366069" y="168424"/>
                  <a:pt x="1368028" y="176113"/>
                  <a:pt x="1368028" y="184844"/>
                </a:cubicBezTo>
                <a:cubicBezTo>
                  <a:pt x="1368028" y="201811"/>
                  <a:pt x="1361232" y="214982"/>
                  <a:pt x="1347639" y="224358"/>
                </a:cubicBezTo>
                <a:cubicBezTo>
                  <a:pt x="1334046" y="233735"/>
                  <a:pt x="1315889" y="238423"/>
                  <a:pt x="1293168" y="238423"/>
                </a:cubicBezTo>
                <a:cubicBezTo>
                  <a:pt x="1275308" y="238423"/>
                  <a:pt x="1258788" y="235595"/>
                  <a:pt x="1243608" y="229939"/>
                </a:cubicBezTo>
                <a:lnTo>
                  <a:pt x="1243608" y="190202"/>
                </a:lnTo>
                <a:cubicBezTo>
                  <a:pt x="1260078" y="200223"/>
                  <a:pt x="1276201" y="205234"/>
                  <a:pt x="1291977" y="205234"/>
                </a:cubicBezTo>
                <a:cubicBezTo>
                  <a:pt x="1311821" y="205234"/>
                  <a:pt x="1321743" y="199926"/>
                  <a:pt x="1321743" y="189309"/>
                </a:cubicBezTo>
                <a:cubicBezTo>
                  <a:pt x="1321743" y="181769"/>
                  <a:pt x="1313557" y="175468"/>
                  <a:pt x="1297186" y="170408"/>
                </a:cubicBezTo>
                <a:cubicBezTo>
                  <a:pt x="1276747" y="164058"/>
                  <a:pt x="1262707" y="156989"/>
                  <a:pt x="1255068" y="149200"/>
                </a:cubicBezTo>
                <a:cubicBezTo>
                  <a:pt x="1247428" y="141411"/>
                  <a:pt x="1243608" y="130869"/>
                  <a:pt x="1243608" y="117574"/>
                </a:cubicBezTo>
                <a:cubicBezTo>
                  <a:pt x="1243608" y="101401"/>
                  <a:pt x="1250156" y="88726"/>
                  <a:pt x="1263253" y="79549"/>
                </a:cubicBezTo>
                <a:cubicBezTo>
                  <a:pt x="1276350" y="70371"/>
                  <a:pt x="1293515" y="65782"/>
                  <a:pt x="1314748" y="65782"/>
                </a:cubicBezTo>
                <a:close/>
                <a:moveTo>
                  <a:pt x="1025724" y="65782"/>
                </a:moveTo>
                <a:cubicBezTo>
                  <a:pt x="1062236" y="65782"/>
                  <a:pt x="1080492" y="88404"/>
                  <a:pt x="1080492" y="133648"/>
                </a:cubicBezTo>
                <a:lnTo>
                  <a:pt x="1080492" y="234404"/>
                </a:lnTo>
                <a:lnTo>
                  <a:pt x="1032718" y="234404"/>
                </a:lnTo>
                <a:lnTo>
                  <a:pt x="1032718" y="142577"/>
                </a:lnTo>
                <a:cubicBezTo>
                  <a:pt x="1032718" y="115987"/>
                  <a:pt x="1023144" y="102691"/>
                  <a:pt x="1003995" y="102691"/>
                </a:cubicBezTo>
                <a:cubicBezTo>
                  <a:pt x="994866" y="102691"/>
                  <a:pt x="987276" y="106238"/>
                  <a:pt x="981224" y="113333"/>
                </a:cubicBezTo>
                <a:cubicBezTo>
                  <a:pt x="975172" y="120427"/>
                  <a:pt x="972145" y="129480"/>
                  <a:pt x="972145" y="140494"/>
                </a:cubicBezTo>
                <a:lnTo>
                  <a:pt x="972145" y="234404"/>
                </a:lnTo>
                <a:lnTo>
                  <a:pt x="924074" y="234404"/>
                </a:lnTo>
                <a:lnTo>
                  <a:pt x="924074" y="69800"/>
                </a:lnTo>
                <a:lnTo>
                  <a:pt x="972145" y="69800"/>
                </a:lnTo>
                <a:lnTo>
                  <a:pt x="972145" y="95994"/>
                </a:lnTo>
                <a:lnTo>
                  <a:pt x="972741" y="95994"/>
                </a:lnTo>
                <a:cubicBezTo>
                  <a:pt x="984746" y="75853"/>
                  <a:pt x="1002407" y="65782"/>
                  <a:pt x="1025724" y="65782"/>
                </a:cubicBezTo>
                <a:close/>
                <a:moveTo>
                  <a:pt x="814834" y="65782"/>
                </a:moveTo>
                <a:cubicBezTo>
                  <a:pt x="838150" y="65782"/>
                  <a:pt x="856382" y="72851"/>
                  <a:pt x="869528" y="86990"/>
                </a:cubicBezTo>
                <a:cubicBezTo>
                  <a:pt x="882675" y="101129"/>
                  <a:pt x="889248" y="120551"/>
                  <a:pt x="889248" y="145256"/>
                </a:cubicBezTo>
                <a:lnTo>
                  <a:pt x="889248" y="165646"/>
                </a:lnTo>
                <a:lnTo>
                  <a:pt x="780901" y="165646"/>
                </a:lnTo>
                <a:cubicBezTo>
                  <a:pt x="782588" y="191145"/>
                  <a:pt x="797967" y="203894"/>
                  <a:pt x="827038" y="203894"/>
                </a:cubicBezTo>
                <a:cubicBezTo>
                  <a:pt x="845195" y="203894"/>
                  <a:pt x="861219" y="199430"/>
                  <a:pt x="875109" y="190500"/>
                </a:cubicBezTo>
                <a:lnTo>
                  <a:pt x="875109" y="225772"/>
                </a:lnTo>
                <a:cubicBezTo>
                  <a:pt x="860127" y="234206"/>
                  <a:pt x="840482" y="238423"/>
                  <a:pt x="816173" y="238423"/>
                </a:cubicBezTo>
                <a:cubicBezTo>
                  <a:pt x="789980" y="238423"/>
                  <a:pt x="769615" y="231031"/>
                  <a:pt x="755079" y="216247"/>
                </a:cubicBezTo>
                <a:cubicBezTo>
                  <a:pt x="740544" y="201464"/>
                  <a:pt x="733276" y="180876"/>
                  <a:pt x="733276" y="154484"/>
                </a:cubicBezTo>
                <a:cubicBezTo>
                  <a:pt x="733276" y="128191"/>
                  <a:pt x="741015" y="106834"/>
                  <a:pt x="756493" y="90413"/>
                </a:cubicBezTo>
                <a:cubicBezTo>
                  <a:pt x="771971" y="73992"/>
                  <a:pt x="791418" y="65782"/>
                  <a:pt x="814834" y="65782"/>
                </a:cubicBezTo>
                <a:close/>
                <a:moveTo>
                  <a:pt x="520898" y="65782"/>
                </a:moveTo>
                <a:cubicBezTo>
                  <a:pt x="557411" y="65782"/>
                  <a:pt x="575667" y="88404"/>
                  <a:pt x="575667" y="133648"/>
                </a:cubicBezTo>
                <a:lnTo>
                  <a:pt x="575667" y="234404"/>
                </a:lnTo>
                <a:lnTo>
                  <a:pt x="527893" y="234404"/>
                </a:lnTo>
                <a:lnTo>
                  <a:pt x="527893" y="142577"/>
                </a:lnTo>
                <a:cubicBezTo>
                  <a:pt x="527893" y="115987"/>
                  <a:pt x="518319" y="102691"/>
                  <a:pt x="499170" y="102691"/>
                </a:cubicBezTo>
                <a:cubicBezTo>
                  <a:pt x="490041" y="102691"/>
                  <a:pt x="482451" y="106238"/>
                  <a:pt x="476399" y="113333"/>
                </a:cubicBezTo>
                <a:cubicBezTo>
                  <a:pt x="470346" y="120427"/>
                  <a:pt x="467320" y="129480"/>
                  <a:pt x="467320" y="140494"/>
                </a:cubicBezTo>
                <a:lnTo>
                  <a:pt x="467320" y="234404"/>
                </a:lnTo>
                <a:lnTo>
                  <a:pt x="419249" y="234404"/>
                </a:lnTo>
                <a:lnTo>
                  <a:pt x="419249" y="69800"/>
                </a:lnTo>
                <a:lnTo>
                  <a:pt x="467320" y="69800"/>
                </a:lnTo>
                <a:lnTo>
                  <a:pt x="467320" y="95994"/>
                </a:lnTo>
                <a:lnTo>
                  <a:pt x="467916" y="95994"/>
                </a:lnTo>
                <a:cubicBezTo>
                  <a:pt x="479921" y="75853"/>
                  <a:pt x="497582" y="65782"/>
                  <a:pt x="520898" y="65782"/>
                </a:cubicBezTo>
                <a:close/>
                <a:moveTo>
                  <a:pt x="299145" y="65782"/>
                </a:moveTo>
                <a:cubicBezTo>
                  <a:pt x="325636" y="65782"/>
                  <a:pt x="346670" y="73397"/>
                  <a:pt x="362248" y="88627"/>
                </a:cubicBezTo>
                <a:cubicBezTo>
                  <a:pt x="377825" y="103857"/>
                  <a:pt x="385614" y="124321"/>
                  <a:pt x="385614" y="150019"/>
                </a:cubicBezTo>
                <a:cubicBezTo>
                  <a:pt x="385614" y="177006"/>
                  <a:pt x="377627" y="198487"/>
                  <a:pt x="361652" y="214461"/>
                </a:cubicBezTo>
                <a:cubicBezTo>
                  <a:pt x="345678" y="230435"/>
                  <a:pt x="324048" y="238423"/>
                  <a:pt x="296763" y="238423"/>
                </a:cubicBezTo>
                <a:cubicBezTo>
                  <a:pt x="269974" y="238423"/>
                  <a:pt x="248717" y="230758"/>
                  <a:pt x="232990" y="215429"/>
                </a:cubicBezTo>
                <a:cubicBezTo>
                  <a:pt x="217264" y="200099"/>
                  <a:pt x="209401" y="179239"/>
                  <a:pt x="209401" y="152846"/>
                </a:cubicBezTo>
                <a:cubicBezTo>
                  <a:pt x="209401" y="125760"/>
                  <a:pt x="217512" y="104477"/>
                  <a:pt x="233735" y="88999"/>
                </a:cubicBezTo>
                <a:cubicBezTo>
                  <a:pt x="249957" y="73521"/>
                  <a:pt x="271760" y="65782"/>
                  <a:pt x="299145" y="65782"/>
                </a:cubicBezTo>
                <a:close/>
                <a:moveTo>
                  <a:pt x="1183481" y="19943"/>
                </a:moveTo>
                <a:lnTo>
                  <a:pt x="1183481" y="69800"/>
                </a:lnTo>
                <a:lnTo>
                  <a:pt x="1220986" y="69800"/>
                </a:lnTo>
                <a:lnTo>
                  <a:pt x="1220986" y="105668"/>
                </a:lnTo>
                <a:lnTo>
                  <a:pt x="1183481" y="105668"/>
                </a:lnTo>
                <a:lnTo>
                  <a:pt x="1183481" y="175022"/>
                </a:lnTo>
                <a:cubicBezTo>
                  <a:pt x="1183481" y="192584"/>
                  <a:pt x="1190427" y="201364"/>
                  <a:pt x="1204317" y="201364"/>
                </a:cubicBezTo>
                <a:cubicBezTo>
                  <a:pt x="1209675" y="201364"/>
                  <a:pt x="1215231" y="199777"/>
                  <a:pt x="1220986" y="196602"/>
                </a:cubicBezTo>
                <a:lnTo>
                  <a:pt x="1220986" y="232469"/>
                </a:lnTo>
                <a:cubicBezTo>
                  <a:pt x="1213743" y="236438"/>
                  <a:pt x="1202779" y="238423"/>
                  <a:pt x="1188095" y="238423"/>
                </a:cubicBezTo>
                <a:cubicBezTo>
                  <a:pt x="1153170" y="238423"/>
                  <a:pt x="1135708" y="220067"/>
                  <a:pt x="1135708" y="183356"/>
                </a:cubicBezTo>
                <a:lnTo>
                  <a:pt x="1135708" y="105668"/>
                </a:lnTo>
                <a:lnTo>
                  <a:pt x="1108621" y="105668"/>
                </a:lnTo>
                <a:lnTo>
                  <a:pt x="1108621" y="69800"/>
                </a:lnTo>
                <a:lnTo>
                  <a:pt x="1135708" y="69800"/>
                </a:lnTo>
                <a:lnTo>
                  <a:pt x="1135708" y="33635"/>
                </a:lnTo>
                <a:close/>
                <a:moveTo>
                  <a:pt x="678656" y="19943"/>
                </a:moveTo>
                <a:lnTo>
                  <a:pt x="678656" y="69800"/>
                </a:lnTo>
                <a:lnTo>
                  <a:pt x="716161" y="69800"/>
                </a:lnTo>
                <a:lnTo>
                  <a:pt x="716161" y="105668"/>
                </a:lnTo>
                <a:lnTo>
                  <a:pt x="678656" y="105668"/>
                </a:lnTo>
                <a:lnTo>
                  <a:pt x="678656" y="175022"/>
                </a:lnTo>
                <a:cubicBezTo>
                  <a:pt x="678656" y="192584"/>
                  <a:pt x="685602" y="201364"/>
                  <a:pt x="699492" y="201364"/>
                </a:cubicBezTo>
                <a:cubicBezTo>
                  <a:pt x="704850" y="201364"/>
                  <a:pt x="710406" y="199777"/>
                  <a:pt x="716161" y="196602"/>
                </a:cubicBezTo>
                <a:lnTo>
                  <a:pt x="716161" y="232469"/>
                </a:lnTo>
                <a:cubicBezTo>
                  <a:pt x="708918" y="236438"/>
                  <a:pt x="697954" y="238423"/>
                  <a:pt x="683270" y="238423"/>
                </a:cubicBezTo>
                <a:cubicBezTo>
                  <a:pt x="648345" y="238423"/>
                  <a:pt x="630882" y="220067"/>
                  <a:pt x="630882" y="183356"/>
                </a:cubicBezTo>
                <a:lnTo>
                  <a:pt x="630882" y="105668"/>
                </a:lnTo>
                <a:lnTo>
                  <a:pt x="603796" y="105668"/>
                </a:lnTo>
                <a:lnTo>
                  <a:pt x="603796" y="69800"/>
                </a:lnTo>
                <a:lnTo>
                  <a:pt x="630882" y="69800"/>
                </a:lnTo>
                <a:lnTo>
                  <a:pt x="630882" y="33635"/>
                </a:lnTo>
                <a:close/>
                <a:moveTo>
                  <a:pt x="122337" y="0"/>
                </a:moveTo>
                <a:cubicBezTo>
                  <a:pt x="144859" y="0"/>
                  <a:pt x="163711" y="2927"/>
                  <a:pt x="178891" y="8781"/>
                </a:cubicBezTo>
                <a:lnTo>
                  <a:pt x="178891" y="56257"/>
                </a:lnTo>
                <a:cubicBezTo>
                  <a:pt x="163314" y="47129"/>
                  <a:pt x="145653" y="42565"/>
                  <a:pt x="125909" y="42565"/>
                </a:cubicBezTo>
                <a:cubicBezTo>
                  <a:pt x="103386" y="42565"/>
                  <a:pt x="85378" y="49758"/>
                  <a:pt x="71884" y="64145"/>
                </a:cubicBezTo>
                <a:cubicBezTo>
                  <a:pt x="58390" y="78532"/>
                  <a:pt x="51643" y="97334"/>
                  <a:pt x="51643" y="120551"/>
                </a:cubicBezTo>
                <a:cubicBezTo>
                  <a:pt x="51643" y="143173"/>
                  <a:pt x="58043" y="161379"/>
                  <a:pt x="70842" y="175171"/>
                </a:cubicBezTo>
                <a:cubicBezTo>
                  <a:pt x="83641" y="188962"/>
                  <a:pt x="100955" y="195858"/>
                  <a:pt x="122783" y="195858"/>
                </a:cubicBezTo>
                <a:cubicBezTo>
                  <a:pt x="143321" y="195858"/>
                  <a:pt x="162024" y="190897"/>
                  <a:pt x="178891" y="180975"/>
                </a:cubicBezTo>
                <a:lnTo>
                  <a:pt x="178891" y="226070"/>
                </a:lnTo>
                <a:cubicBezTo>
                  <a:pt x="162123" y="234305"/>
                  <a:pt x="140246" y="238423"/>
                  <a:pt x="113258" y="238423"/>
                </a:cubicBezTo>
                <a:cubicBezTo>
                  <a:pt x="78532" y="238423"/>
                  <a:pt x="50974" y="228029"/>
                  <a:pt x="30584" y="207243"/>
                </a:cubicBezTo>
                <a:cubicBezTo>
                  <a:pt x="10195" y="186457"/>
                  <a:pt x="0" y="158750"/>
                  <a:pt x="0" y="124123"/>
                </a:cubicBezTo>
                <a:cubicBezTo>
                  <a:pt x="0" y="87709"/>
                  <a:pt x="11385" y="57919"/>
                  <a:pt x="34156" y="34751"/>
                </a:cubicBezTo>
                <a:cubicBezTo>
                  <a:pt x="56927" y="11584"/>
                  <a:pt x="86320" y="0"/>
                  <a:pt x="12233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>
            <a:lvl1pPr indent="0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accent1"/>
                </a:solidFill>
                <a:latin typeface="+mn-ea"/>
                <a:cs typeface="+mn-ea"/>
                <a:sym typeface="+mn-ea"/>
              </a:defRPr>
            </a:lvl1pPr>
            <a:lvl2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2pPr>
            <a:lvl3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3pPr>
            <a:lvl4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4pPr>
            <a:lvl5pPr indent="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  <a:sym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1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square" anchor="b">
            <a:normAutofit/>
          </a:bodyPr>
          <a:lstStyle>
            <a:lvl1pPr marL="0" indent="0" algn="l">
              <a:buNone/>
              <a:defRPr sz="60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2pPr>
            <a:lvl3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3pPr>
            <a:lvl4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4pPr>
            <a:lvl5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2pPr>
            <a:lvl3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3pPr>
            <a:lvl4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4pPr>
            <a:lvl5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zh-CN" altLang="en-US" sz="3600" dirty="0"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2pPr>
            <a:lvl3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3pPr>
            <a:lvl4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4pPr>
            <a:lvl5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2pPr>
            <a:lvl3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3pPr>
            <a:lvl4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4pPr>
            <a:lvl5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2pPr>
            <a:lvl3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3pPr>
            <a:lvl4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4pPr>
            <a:lvl5pPr>
              <a:defRPr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1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+mn-ea"/>
                <a:sym typeface="+mn-ea"/>
              </a:defRPr>
            </a:lvl1pPr>
          </a:lstStyle>
          <a:p>
            <a:pPr lvl="0"/>
            <a:r>
              <a:rPr lang="zh-CN" altLang="en-US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4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Times New Roman" panose="02020603050405020304" charset="0"/>
              <a:ea typeface="阿里巴巴普惠体 3.0 55 Regular" panose="00020600040101010101" charset="-122"/>
              <a:cs typeface="Times New Roman" panose="0202060305040502030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fld id="{5592522B-0F24-4480-B9DD-A9474A6880D6}" type="datetimeFigureOut">
              <a:rPr lang="zh-CN" altLang="en-US" smtClean="0"/>
              <a:t>2025/11/1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endParaRPr lang="zh-CN" altLang="en-US" sz="2400" b="1" u="none">
              <a:solidFill>
                <a:srgbClr val="057174"/>
              </a:solidFill>
              <a:latin typeface="Times New Roman" panose="02020603050405020304" charset="0"/>
              <a:ea typeface="阿里巴巴普惠体 3.0 55 Regula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3200" b="1" i="0" u="none" kern="1200">
          <a:solidFill>
            <a:srgbClr val="057174"/>
          </a:solidFill>
          <a:latin typeface="Times New Roman" panose="02020603050405020304" charset="0"/>
          <a:ea typeface="阿里巴巴普惠体 3.0 55 Regular" panose="00020600040101010101" charset="-122"/>
          <a:cs typeface="+mn-ea"/>
          <a:sym typeface="+mn-ea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0"/>
        </a:spcAft>
        <a:buFont typeface="Arial" panose="020B0604020202020204" pitchFamily="34" charset="0"/>
        <a:buChar char="•"/>
        <a:defRPr sz="2400" b="1" i="0" u="none" kern="1200">
          <a:solidFill>
            <a:srgbClr val="057174"/>
          </a:solidFill>
          <a:latin typeface="Times New Roman" panose="02020603050405020304" charset="0"/>
          <a:ea typeface="阿里巴巴普惠体 3.0 55 Regular" panose="00020600040101010101" charset="-122"/>
          <a:cs typeface="+mn-ea"/>
          <a:sym typeface="+mn-ea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charset="0"/>
          <a:ea typeface="阿里巴巴普惠体 3.0 55 Regular" panose="00020600040101010101" charset="-122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charset="0"/>
          <a:ea typeface="阿里巴巴普惠体 3.0 55 Regular" panose="00020600040101010101" charset="-122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charset="0"/>
          <a:ea typeface="阿里巴巴普惠体 3.0 55 Regular" panose="00020600040101010101" charset="-122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Times New Roman" panose="02020603050405020304" charset="0"/>
          <a:ea typeface="阿里巴巴普惠体 3.0 55 Regular" panose="00020600040101010101" charset="-122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Relationship Id="rId5" Type="http://www.wps.cn/officeDocument/2018/webExtension" Target="../webExtensions/webExtension1.xml"/><Relationship Id="rId4" Type="http://www.wps.cn/officeDocument/2018/webExtension" Target="../webExtensions/webExtension1.x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/>
          </a:bodyPr>
          <a:lstStyle/>
          <a:p>
            <a:r>
              <a:rPr lang="en-US" altLang="zh-CN" sz="4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Strong Baselines for CIFAR100</a:t>
            </a: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ctr" anchorCtr="0">
            <a:normAutofit/>
          </a:bodyPr>
          <a:lstStyle/>
          <a:p>
            <a:r>
              <a:rPr lang="zh-CN" altLang="en-US" u="none" dirty="0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作者：偷吃喵的鱼腥草（</a:t>
            </a:r>
            <a:r>
              <a:rPr lang="en-US" altLang="zh-CN" u="none" dirty="0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tcmyxc</a:t>
            </a:r>
            <a:r>
              <a:rPr lang="zh-CN" altLang="en-US" u="none" dirty="0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z="3200" u="none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基线设置</a:t>
            </a:r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 u="none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模型选择：</a:t>
            </a:r>
            <a:r>
              <a:rPr lang="en-US" altLang="zh-CN" u="none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ResNet50</a:t>
            </a:r>
            <a:endParaRPr lang="zh-CN" altLang="en-US" u="none">
              <a:solidFill>
                <a:schemeClr val="tx1"/>
              </a:solidFill>
              <a:latin typeface="Times New Roman" panose="02020603050405020304" charset="0"/>
              <a:ea typeface="阿里巴巴普惠体 3.0 55 Regular" panose="00020600040101010101" charset="-122"/>
            </a:endParaRPr>
          </a:p>
          <a:p>
            <a:r>
              <a:rPr lang="zh-CN" altLang="en-US" u="none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训练基线配置：</a:t>
            </a:r>
            <a:r>
              <a:rPr lang="en-US" altLang="zh-CN" u="none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Cutout</a:t>
            </a:r>
          </a:p>
          <a:p>
            <a:pPr lvl="1"/>
            <a:r>
              <a:rPr lang="zh-CN" altLang="en-US" u="none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论文：https://arxiv.org/abs/1708.04552</a:t>
            </a:r>
          </a:p>
          <a:p>
            <a:pPr lvl="1"/>
            <a:r>
              <a:rPr lang="zh-CN" altLang="en-US" u="none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代码：https://github.com/uoguelph-mlrg/Cutout</a:t>
            </a:r>
          </a:p>
          <a:p>
            <a:pPr lvl="0"/>
            <a:r>
              <a:rPr lang="zh-CN" altLang="en-US" u="none">
                <a:solidFill>
                  <a:schemeClr val="tx1"/>
                </a:solidFill>
                <a:latin typeface="Times New Roman" panose="02020603050405020304" charset="0"/>
                <a:ea typeface="阿里巴巴普惠体 3.0 55 Regular" panose="00020600040101010101" charset="-122"/>
              </a:rPr>
              <a:t>配置细节：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4200" y="2286635"/>
            <a:ext cx="4447540" cy="41205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810" y="3454400"/>
            <a:ext cx="5191125" cy="29527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470275" y="6423660"/>
            <a:ext cx="525145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rPr>
              <a:t>训练结果：</a:t>
            </a:r>
            <a:r>
              <a:rPr lang="zh-CN" altLang="en-US"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rPr>
              <a:t>acc: 62.72, err rate: 37.28</a:t>
            </a:r>
            <a:r>
              <a:rPr lang="en-US" altLang="zh-CN"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rPr>
              <a:t>, time: 2:23:15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模型结构修改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</a:rPr>
              <a:t>ResNet</a:t>
            </a:r>
            <a:r>
              <a:rPr lang="zh-CN" altLang="en-US">
                <a:solidFill>
                  <a:schemeClr val="tx1"/>
                </a:solidFill>
              </a:rPr>
              <a:t>原始结构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988" y="2196465"/>
            <a:ext cx="8582025" cy="3752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模型结构修改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</a:rPr>
              <a:t>ResNet</a:t>
            </a:r>
            <a:r>
              <a:rPr lang="zh-CN" altLang="en-US">
                <a:solidFill>
                  <a:schemeClr val="tx1"/>
                </a:solidFill>
              </a:rPr>
              <a:t>原始结构（以</a:t>
            </a:r>
            <a:r>
              <a:rPr lang="en-US" altLang="zh-CN">
                <a:solidFill>
                  <a:schemeClr val="tx1"/>
                </a:solidFill>
              </a:rPr>
              <a:t>TorchVision</a:t>
            </a:r>
            <a:r>
              <a:rPr lang="zh-CN" altLang="en-US">
                <a:solidFill>
                  <a:schemeClr val="tx1"/>
                </a:solidFill>
              </a:rPr>
              <a:t>实现为例）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1870075"/>
            <a:ext cx="8858250" cy="184785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模型结构修改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模型结构修改对比结果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25" y="1918970"/>
            <a:ext cx="9201150" cy="32670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模型结构修改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模型结构修改对比结果</a:t>
            </a:r>
          </a:p>
        </p:txBody>
      </p:sp>
      <p:pic>
        <p:nvPicPr>
          <p:cNvPr id="4" name="图片 3"/>
          <p:cNvPicPr/>
          <p:nvPr/>
        </p:nvPicPr>
        <p:blipFill>
          <a:blip r:embed="rId3"/>
          <a:stretch>
            <a:fillRect/>
          </a:stretch>
        </p:blipFill>
        <p:spPr>
          <a:xfrm>
            <a:off x="1025525" y="1708150"/>
            <a:ext cx="8533765" cy="4799965"/>
          </a:xfrm>
          <a:prstGeom prst="rect">
            <a:avLst/>
          </a:prstGeom>
          <a:ln>
            <a:solidFill>
              <a:srgbClr val="FFFFFF"/>
            </a:solidFill>
          </a:ln>
        </p:spPr>
      </p:pic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训练策略（</a:t>
            </a:r>
            <a:r>
              <a:rPr lang="en-US" altLang="zh-CN">
                <a:solidFill>
                  <a:schemeClr val="tx1"/>
                </a:solidFill>
              </a:rPr>
              <a:t>tricks)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权重初始化方式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学习率调度器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最小学习率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weight dacay参数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SGD优化器中的nesterov参数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混合精度训练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68575" y="5825490"/>
            <a:ext cx="705485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n>
                  <a:noFill/>
                </a:ln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rPr>
              <a:t>仓库地址：https://github.com/tcmyxc/Strong-Baselines-for-CIFAR100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训练策略（</a:t>
            </a:r>
            <a:r>
              <a:rPr lang="en-US" altLang="zh-CN">
                <a:solidFill>
                  <a:schemeClr val="tx1"/>
                </a:solidFill>
              </a:rPr>
              <a:t>tricks)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权重初始化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6725" y="2128520"/>
            <a:ext cx="3638550" cy="26003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68575" y="6396990"/>
            <a:ext cx="705485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n>
                  <a:noFill/>
                </a:ln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rPr>
              <a:t>仓库地址：https://github.com/tcmyxc/Strong-Baselines-for-CIFAR100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训练策略（</a:t>
            </a:r>
            <a:r>
              <a:rPr lang="en-US" altLang="zh-CN">
                <a:solidFill>
                  <a:schemeClr val="tx1"/>
                </a:solidFill>
              </a:rPr>
              <a:t>tricks)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学习率调度器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745" y="2105025"/>
            <a:ext cx="8143875" cy="35433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68575" y="6396990"/>
            <a:ext cx="705485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n>
                  <a:noFill/>
                </a:ln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rPr>
              <a:t>仓库地址：https://github.com/tcmyxc/Strong-Baselines-for-CIFAR100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训练策略（</a:t>
            </a:r>
            <a:r>
              <a:rPr lang="en-US" altLang="zh-CN">
                <a:solidFill>
                  <a:schemeClr val="tx1"/>
                </a:solidFill>
              </a:rPr>
              <a:t>tricks)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最小学习率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870" y="1590675"/>
            <a:ext cx="4619625" cy="3676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68575" y="6396990"/>
            <a:ext cx="705485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n>
                  <a:noFill/>
                </a:ln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rPr>
              <a:t>仓库地址：https://github.com/tcmyxc/Strong-Baselines-for-CIFAR100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训练策略（</a:t>
            </a:r>
            <a:r>
              <a:rPr lang="en-US" altLang="zh-CN">
                <a:solidFill>
                  <a:schemeClr val="tx1"/>
                </a:solidFill>
              </a:rPr>
              <a:t>tricks)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weight dacay参数</a:t>
            </a:r>
            <a:endParaRPr lang="zh-CN" altLang="en-US">
              <a:solidFill>
                <a:schemeClr val="tx1"/>
              </a:solidFill>
            </a:endParaRP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725" y="2452370"/>
            <a:ext cx="5162550" cy="19526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68575" y="6396990"/>
            <a:ext cx="705485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n>
                  <a:noFill/>
                </a:ln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rPr>
              <a:t>仓库地址：https://github.com/tcmyxc/Strong-Baselines-for-CIFAR100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训练策略（</a:t>
            </a:r>
            <a:r>
              <a:rPr lang="en-US" altLang="zh-CN">
                <a:solidFill>
                  <a:schemeClr val="tx1"/>
                </a:solidFill>
              </a:rPr>
              <a:t>tricks)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SGD优化器中的nesterov参数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2428875"/>
            <a:ext cx="4743450" cy="20002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68575" y="6396990"/>
            <a:ext cx="705485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n>
                  <a:noFill/>
                </a:ln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rPr>
              <a:t>仓库地址：https://github.com/tcmyxc/Strong-Baselines-for-CIFAR100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训练策略（</a:t>
            </a:r>
            <a:r>
              <a:rPr lang="en-US" altLang="zh-CN">
                <a:solidFill>
                  <a:schemeClr val="tx1"/>
                </a:solidFill>
              </a:rPr>
              <a:t>tricks)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</a:rPr>
              <a:t>混合精度训练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070" y="2476500"/>
            <a:ext cx="4467225" cy="1905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68575" y="6396990"/>
            <a:ext cx="7054850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>
                <a:ln>
                  <a:noFill/>
                </a:ln>
                <a:latin typeface="Times New Roman" panose="02020603050405020304" charset="0"/>
                <a:ea typeface="阿里巴巴普惠体 3.0 55 Regular" panose="00020600040101010101" charset="-122"/>
                <a:cs typeface="Times New Roman" panose="02020603050405020304" charset="0"/>
              </a:rPr>
              <a:t>仓库地址：https://github.com/tcmyxc/Strong-Baselines-for-CIFAR100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>
                <a:solidFill>
                  <a:schemeClr val="tx1"/>
                </a:solidFill>
              </a:rPr>
              <a:t>数据增强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AutoAugment (AA) 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Cutout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随机擦除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Mixup 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</a:rPr>
              <a:t>Cumix </a:t>
            </a:r>
          </a:p>
          <a:p>
            <a:pPr fontAlgn="auto">
              <a:lnSpc>
                <a:spcPct val="150000"/>
              </a:lnSpc>
              <a:buFont typeface="Wingdings" panose="05000000000000000000" charset="0"/>
              <a:buChar char="Ø"/>
            </a:pPr>
            <a:endParaRPr lang="en-US" altLang="zh-CN">
              <a:solidFill>
                <a:schemeClr val="tx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990" y="2304234"/>
            <a:ext cx="2916000" cy="182063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3555" y="2340791"/>
            <a:ext cx="2353310" cy="17475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4695" y="4288155"/>
            <a:ext cx="4767580" cy="224409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8480" y="360045"/>
            <a:ext cx="2620010" cy="19716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U4NTIxY2U2NDlkMTVkNjQ5NzQ5NTYwY2M2MzI0Z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329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VALUE" val="340"/>
  <p:tag name="KSO_WM_TEMPLATE_CATEGORY" val="custom"/>
  <p:tag name="KSO_WM_TEMPLATE_INDEX" val="2023329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299"/>
  <p:tag name="KSO_WM_TEMPLATE_THUMBS_INDEX" val="1、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299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299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299_1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PRESET_TEXT" val="单击添加文档标题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299_1*f*4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PRESET_TEXT" val="汇报人：WPS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29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20233299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a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PRESET_TEXT" val="单击此处添加标题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3299_8*f*1"/>
  <p:tag name="KSO_WM_TEMPLATE_CATEGORY" val="custom"/>
  <p:tag name="KSO_WM_TEMPLATE_INDEX" val="20233299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PRESET_TEXT" val="单击此处添加文本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33299"/>
</p:tagLst>
</file>

<file path=ppt/theme/theme1.xml><?xml version="1.0" encoding="utf-8"?>
<a:theme xmlns:a="http://schemas.openxmlformats.org/drawingml/2006/main" name="Office 主题​​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自定义 45">
      <a:majorFont>
        <a:latin typeface="Segoe Print"/>
        <a:ea typeface="微软雅黑"/>
        <a:cs typeface=""/>
      </a:majorFont>
      <a:minorFont>
        <a:latin typeface="Segoe Print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package" Target="../embeddings/Workbook1.xlsx"/></Relationships>
</file>

<file path=ppt/webExtensions/webExtension1.xml><?xml version="1.0" encoding="utf-8"?>
<wpswe:webExtension xmlns:wpswe="http://www.wps.cn/officeDocument/2018/webExtension">
  <wpswe:extSource id="dschart" version="1.0"/>
  <wpswe:properties>
    <wpswe:property key="DiscardFirstCodeChange" value="0"/>
    <wpswe:property key="autoSnapshot" value="0"/>
    <wpswe:property key="dschart" value="{&quot;dschart_data&quot;:{&quot;blockId&quot;:&quot;161249688700346085&quot;,&quot;chart_type&quot;:&quot;柱状图&quot;,&quot;classifty_type&quot;:[&quot;比较类&quot;],&quot;dataSrc&quot;:{&quot;data&quot;:[[[&quot;模型后缀&quot;,&quot;acc (%)&quot;],[&quot;T&quot;,&quot;62.72&quot;],[&quot;E1&quot;,&quot;73.72&quot;],[&quot;E2&quot;,&quot;80.39&quot;],[&quot;E3&quot;,&quot;80.53&quot;],[&quot;E4&quot;,&quot;80.05&quot;],[&quot;E5&quot;,&quot;80.91&quot;]]],&quot;dataType&quot;:&quot;obejct-table&quot;,&quot;download&quot;:false,&quot;srcType&quot;:&quot;local&quot;,&quot;url&quot;:&quot;&quot;},&quot;function_type&quot;:[&quot;柱形图&quot;],&quot;gif&quot;:&quot;//web.docer.wpscdn.cn/docer/ds-page/v2/images/444734748594536323.gif?imageView2/2/w/500/quality/90&quot;,&quot;isFree&quot;:&quot;0&quot;,&quot;label&quot;:&quot;&lt;e-barbasic-chart&gt;&quot;,&quot;projectId&quot;:&quot;444734748594536323&quot;,&quot;props&quot;:{&quot;animation&quot;:{&quot;duration&quot;:&quot;2&quot;,&quot;easeStyle&quot;:&quot;&quot;,&quot;endPause&quot;:&quot;1&quot;,&quot;moveOptions&quot;:[&quot;纵向整体拉伸&quot;,&quot;纵向分组拉伸&quot;,&quot;纵向分类拉伸&quot;,&quot;横向分组展开&quot;,&quot;横向同步展开&quot;,&quot;横向分类展开&quot;],&quot;moveStyle&quot;:&quot;纵向整体拉伸&quot;,&quot;startDelay&quot;:&quot;0&quot;,&quot;transition&quot;:true},&quot;axis&quot;:{&quot;grid&quot;:{&quot;color&quot;:&quot;#e9e9e9&quot;,&quot;gridLineWidth&quot;:&quot;1&quot;,&quot;lineStyle&quot;:&quot;dashline&quot;,&quot;show&quot;:&quot;x&quot;},&quot;x&quot;:{&quot;axisColor&quot;:&quot;#bfbfbf&quot;,&quot;axisLineWidth&quot;:&quot;1&quot;,&quot;axisShow&quot;:true,&quot;labelAngle&quot;:&quot;0&quot;,&quot;labelDirection&quot;:&quot;自动&quot;,&quot;labelDirectionOptions&quot;:[&quot;自动&quot;,&quot;横排&quot;,&quot;竖排&quot;],&quot;labelShow&quot;:true,&quot;name&quot;:&quot;&quot;},&quot;y&quot;:{&quot;axisColor&quot;:&quot;#bfbfbf&quot;,&quot;axisLineWidth&quot;:&quot;1&quot;,&quot;axisShow&quot;:false,&quot;labelShow&quot;:true,&quot;labelSuffix&quot;:&quot;&quot;,&quot;name&quot;:&quot;&quot;,&quot;range&quot;:[60,&quot;&quot;],&quot;stepOfLabel&quot;:&quot;&quot;}},&quot;backgroundColor&quot;:&quot;&quot;,&quot;colors&quot;:{&quot;colorControlers&quot;:[&quot;multiple&quot;],&quot;list&quot;:[0],&quot;type&quot;:&quot;multiple&quot;},&quot;display&quot;:{&quot;bar4CornerRadius&quot;:[0,0,0,0],&quot;barWidthPercent&quot;:&quot;0.5&quot;,&quot;barborderColor&quot;:&quot;&quot;,&quot;barborderWidth&quot;:&quot;0&quot;,&quot;fillOpacity&quot;:&quot;1&quot;},&quot;font&quot;:{&quot;color&quot;:&quot;#545454&quot;,&quot;fontFamily&quot;:&quot;黑体&quot;,&quot;fontSize&quot;:&quot;14&quot;},&quot;label&quot;:{&quot;display&quot;:true,&quot;positionChoice&quot;:&quot;上面&quot;,&quot;positionOptions&quot;:[&quot;上面&quot;,&quot;内部居下&quot;],&quot;suffix&quot;:&quot;&quot;,&quot;textLabel&quot;:{&quot;color&quot;:&quot;#545454&quot;,&quot;fontFamily&quot;:&quot;黑体&quot;,&quot;fontSize&quot;:&quot;14&quot;}},&quot;legend&quot;:{&quot;color&quot;:[&quot;#545454&quot;],&quot;fontFamily&quot;:[&quot;黑体&quot;],&quot;fontSize&quot;:&quot;14&quot;,&quot;lineHeight&quot;:&quot;15&quot;,&quot;show&quot;:true,&quot;style&quot;:&quot;&quot;,&quot;styleOptions&quot;:[],&quot;xPosition&quot;:&quot;center&quot;,&quot;yPosition&quot;:&quot;bottom&quot;},&quot;logoDisplay&quot;:{&quot;bottomLineHeight&quot;:&quot;15&quot;,&quot;imgHeight&quot;:&quot;32&quot;,&quot;imgUrl&quot;:&quot;https://ss1.dydata.io/newchartLogo.png&quot;,&quot;show&quot;:true,&quot;topLineHeight&quot;:&quot;11&quot;},&quot;map&quot;:[[{&quot;allowType&quot;:[&quot;string&quot;],&quot;configurable&quot;:false,&quot;function&quot;:&quot;objCol&quot;,&quot;index&quot;:0,&quot;isLegend&quot;:false,&quot;name&quot;:&quot;X轴对象&quot;},{&quot;allowType&quot;:[&quot;number&quot;],&quot;configurable&quot;:true,&quot;function&quot;:&quot;vCol&quot;,&quot;index&quot;:1,&quot;isLegend&quot;:false,&quot;name&quot;:&quot;数值列&quot;}]],&quot;numberFormat&quot;:{&quot;decimalPlaces&quot;:&quot;&quot;,&quot;style&quot;:&quot;1000.00&quot;},&quot;paddings&quot;:{&quot;bottom&quot;:&quot;33&quot;,&quot;chartBottom&quot;:&quot;5&quot;,&quot;left&quot;:&quot;24&quot;,&quot;right&quot;:&quot;24&quot;,&quot;top&quot;:&quot;24&quot;},&quot;publishDisplay&quot;:{&quot;color&quot;:&quot;#878787&quot;,&quot;fontFamily&quot;:&quot;黑体&quot;,&quot;fontSize&quot;:&quot;14&quot;,&quot;show&quot;:true,&quot;text&quot;:&quot;镝数出品&quot;},&quot;shadow&quot;:{&quot;display&quot;:false,&quot;shadowAngle&quot;:&quot;45&quot;,&quot;shadowBlur&quot;:&quot;5&quot;,&quot;shadowColor&quot;:&quot;#c6c6c6&quot;,&quot;shadowOpacity&quot;:&quot;100&quot;,&quot;shadowRadius&quot;:&quot;3&quot;},&quot;size&quot;:{&quot;height&quot;:&quot;470&quot;,&quot;ratio&quot;:&quot;&quot;,&quot;rotate&quot;:0,&quot;width&quot;:&quot;600&quot;},&quot;sourceDisplay&quot;:{&quot;color&quot;:&quot;#878787&quot;,&quot;fontFamily&quot;:&quot;黑体&quot;,&quot;fontSize&quot;:&quot;14&quot;,&quot;show&quot;:false,&quot;text&quot;:&quot;数据来源：示例数据&quot;,&quot;topLineHeight&quot;:&quot;15&quot;,&quot;xPosition&quot;:&quot;left&quot;,&quot;yPosition&quot;:&quot;bottom&quot;},&quot;titleDisplay&quot;:{&quot;color&quot;:&quot;#4c4c4c&quot;,&quot;fontFamily&quot;:&quot;黑体&quot;,&quot;fontSize&quot;:&quot;36&quot;,&quot;lineHeight&quot;:&quot;10&quot;,&quot;show&quot;:false,&quot;text&quot;:&quot;2018年全国各地区销售额情况&quot;,&quot;totalHeight&quot;:&quot;39&quot;,&quot;xPosition&quot;:&quot;left&quot;,&quot;yPosition&quot;:&quot;top&quot;},&quot;tooltip&quot;:true,&quot;unitDisplay&quot;:{&quot;bottomLineHeight&quot;:&quot;15&quot;,&quot;color&quot;:&quot;#878787&quot;,&quot;fontFamily&quot;:&quot;黑体&quot;,&quot;fontSize&quot;:&quot;14&quot;,&quot;show&quot;:false,&quot;text&quot;:&quot;单位：万元&quot;,&quot;xPosition&quot;:&quot;left&quot;,&quot;yPosition&quot;:&quot;top&quot;},&quot;watermarkDisplay&quot;:{&quot;imgHeight&quot;:&quot;80&quot;,&quot;imgUrl&quot;:&quot;https://ss1.dydata.io/newchartWatermark.png&quot;,&quot;imgWidth&quot;:&quot;80&quot;,&quot;show&quot;:false}},&quot;templateId&quot;:&quot;444734748594536323&quot;,&quot;templateSwitch&quot;:&quot;cross&quot;,&quot;theme&quot;:{&quot;axis&quot;:{&quot;color&quot;:&quot;#a1a1a1&quot;},&quot;backgroundColor&quot;:&quot;#FFFFFF&quot;,&quot;colors&quot;:[&quot;#5AAEF3&quot;,&quot;#62D9AD&quot;,&quot;#5B6E96&quot;,&quot;#a8dffa&quot;,&quot;#ffdc4c&quot;,&quot;#FF974C&quot;,&quot;#E65A56&quot;,&quot;#6D61E4&quot;,&quot;#4A6FE2&quot;,&quot;#6D9AE7&quot;,&quot;#23C2DB&quot;,&quot;#D4EC59&quot;,&quot;#FFE88E&quot;,&quot;#FEB64D&quot;,&quot;#FB6E6C&quot;],&quot;fonts&quot;:{&quot;accessoryColor&quot;:&quot;#878787&quot;,&quot;color&quot;:&quot;#545454&quot;,&quot;fontFamily&quot;:&quot;黑体&quot;,&quot;fontSize&quot;:&quot;14&quot;},&quot;grid&quot;:{&quot;color&quot;:&quot;#ccc&quot;},&quot;name&quot;:&quot;默认主题&quot;,&quot;price&quot;:&quot;0.0&quot;,&quot;shapeColor&quot;:1,&quot;themeId&quot;:&quot;18&quot;,&quot;titleFont&quot;:{&quot;color&quot;:&quot;#4c4c4c&quot;,&quot;fontFamily&quot;:&quot;黑体&quot;,&quot;fontSize&quot;:&quot;36&quot;}},&quot;thumb&quot;:&quot;//web.docer.wpscdn.cn/docer/ds-page/v2/images/S9mQy7TtDPRefubPR9f5hY.CBEB17BE.jpg?imageView2/2/w/500/quality/90&quot;,&quot;title&quot;:&quot;基础柱状图&quot;,&quot;type&quot;:&quot;chart&quot;},&quot;dschart_id&quot;:&quot;444734748594536323&quot;,&quot;flag&quot;:&quot;1001&quot;,&quot;page&quot;:&quot;editor&quot;}"/>
    <wpswe:property key="isUseCommonErrorPage" value="false"/>
    <wpswe:property key="loadingImage" value="res:/icons/DsWebShapeDefaultPage.svg"/>
  </wpswe:properties>
  <wpswe:watchingCache>
    <wpswe:linkPath>C:/Users/Administrator/AppData/Local/Temp/wps.FKpXeU/Workbook1.xlsx</wpswe:linkPath>
  </wpswe:watchingCache>
  <wpswe:snapshot xmlns:r="http://schemas.openxmlformats.org/officeDocument/2006/relationships" r:embed="rId2"/>
  <wpswe:externalData xmlns:r="http://schemas.openxmlformats.org/officeDocument/2006/relationships" r:id="rId1"/>
  <wpswe:url>https://clientweb.docer.wps.cn//docer-ds/web-shape-1.0.0/?id=40&amp;dschart_id=444734748594536323&amp;from=chartwins&amp;productEntry=insert&amp;sceneEntry=rec</wpswe:url>
  <wpswe:constantSnapshot>false</wpswe:constantSnapshot>
</wps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宽屏</PresentationFormat>
  <Paragraphs>49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Arial</vt:lpstr>
      <vt:lpstr>Calibri</vt:lpstr>
      <vt:lpstr>Times New Roman</vt:lpstr>
      <vt:lpstr>Wingdings</vt:lpstr>
      <vt:lpstr>Office 主题​​</vt:lpstr>
      <vt:lpstr>Strong Baselines for CIFAR100</vt:lpstr>
      <vt:lpstr>基线设置</vt:lpstr>
      <vt:lpstr>模型结构修改</vt:lpstr>
      <vt:lpstr>模型结构修改</vt:lpstr>
      <vt:lpstr>模型结构修改</vt:lpstr>
      <vt:lpstr>模型结构修改</vt:lpstr>
      <vt:lpstr>训练策略（tricks)</vt:lpstr>
      <vt:lpstr>训练策略（tricks)</vt:lpstr>
      <vt:lpstr>训练策略（tricks)</vt:lpstr>
      <vt:lpstr>训练策略（tricks)</vt:lpstr>
      <vt:lpstr>训练策略（tricks)</vt:lpstr>
      <vt:lpstr>训练策略（tricks)</vt:lpstr>
      <vt:lpstr>训练策略（tricks)</vt:lpstr>
      <vt:lpstr>数据增强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单击此处添加文档标题</dc:title>
  <dc:creator>O365</dc:creator>
  <cp:lastModifiedBy>文卓 包</cp:lastModifiedBy>
  <cp:revision>204</cp:revision>
  <dcterms:created xsi:type="dcterms:W3CDTF">2023-07-18T08:08:00Z</dcterms:created>
  <dcterms:modified xsi:type="dcterms:W3CDTF">2025-11-01T12:24:17Z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37AAECB4D3884BB0BD9B22757B4109D1_11</vt:lpwstr>
  </property>
  <property fmtid="{D5CDD505-2E9C-101B-9397-08002B2CF9AE}" pid="3" name="KSOProductBuildVer">
    <vt:lpwstr>2052-12.1.0.16929</vt:lpwstr>
  </property>
</Properties>
</file>